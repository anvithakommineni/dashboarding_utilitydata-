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119CA3-29CE-4173-811E-9F4CC07C898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4E5D449-6BEC-4B17-A184-3108380A0B20}">
      <dgm:prSet/>
      <dgm:spPr/>
      <dgm:t>
        <a:bodyPr/>
        <a:lstStyle/>
        <a:p>
          <a:r>
            <a:rPr lang="en-US" dirty="0"/>
            <a:t>1. Energy usage dominates significantly higher than water and waste.</a:t>
          </a:r>
        </a:p>
      </dgm:t>
    </dgm:pt>
    <dgm:pt modelId="{A858616D-51BB-4DBB-83D3-3F5763597E00}" type="parTrans" cxnId="{D39D1906-CA3A-445C-98A3-FCBB2FCF71F8}">
      <dgm:prSet/>
      <dgm:spPr/>
      <dgm:t>
        <a:bodyPr/>
        <a:lstStyle/>
        <a:p>
          <a:endParaRPr lang="en-US"/>
        </a:p>
      </dgm:t>
    </dgm:pt>
    <dgm:pt modelId="{F554964C-0805-4BED-95DB-3229287243FF}" type="sibTrans" cxnId="{D39D1906-CA3A-445C-98A3-FCBB2FCF71F8}">
      <dgm:prSet/>
      <dgm:spPr/>
      <dgm:t>
        <a:bodyPr/>
        <a:lstStyle/>
        <a:p>
          <a:endParaRPr lang="en-US"/>
        </a:p>
      </dgm:t>
    </dgm:pt>
    <dgm:pt modelId="{09FB6871-6047-4E85-B82C-179C6F6D91E4}">
      <dgm:prSet/>
      <dgm:spPr/>
      <dgm:t>
        <a:bodyPr/>
        <a:lstStyle/>
        <a:p>
          <a:r>
            <a:rPr lang="en-US" dirty="0"/>
            <a:t>2. Utility usage increased steadily and peaked in 2023. </a:t>
          </a:r>
        </a:p>
      </dgm:t>
    </dgm:pt>
    <dgm:pt modelId="{4BCB01A4-2577-4D19-B1C6-B1C247109692}" type="parTrans" cxnId="{0221C003-5B99-4C82-9F2B-5CEA28AE45C2}">
      <dgm:prSet/>
      <dgm:spPr/>
      <dgm:t>
        <a:bodyPr/>
        <a:lstStyle/>
        <a:p>
          <a:endParaRPr lang="en-US"/>
        </a:p>
      </dgm:t>
    </dgm:pt>
    <dgm:pt modelId="{AAB22CFE-A52D-4DE2-96E1-6C5CB7672EB3}" type="sibTrans" cxnId="{0221C003-5B99-4C82-9F2B-5CEA28AE45C2}">
      <dgm:prSet/>
      <dgm:spPr/>
      <dgm:t>
        <a:bodyPr/>
        <a:lstStyle/>
        <a:p>
          <a:endParaRPr lang="en-US"/>
        </a:p>
      </dgm:t>
    </dgm:pt>
    <dgm:pt modelId="{9F3730F6-2869-4721-A826-94FDDE861B8C}">
      <dgm:prSet/>
      <dgm:spPr/>
      <dgm:t>
        <a:bodyPr/>
        <a:lstStyle/>
        <a:p>
          <a:r>
            <a:rPr lang="en-US" dirty="0"/>
            <a:t>3. The Central region is the higher consumption that other building types. </a:t>
          </a:r>
        </a:p>
      </dgm:t>
    </dgm:pt>
    <dgm:pt modelId="{7ED8DD78-FE60-46AC-AFAC-4648181AFB96}" type="parTrans" cxnId="{4D493132-B62F-4613-8E32-CF53B5A58608}">
      <dgm:prSet/>
      <dgm:spPr/>
      <dgm:t>
        <a:bodyPr/>
        <a:lstStyle/>
        <a:p>
          <a:endParaRPr lang="en-US"/>
        </a:p>
      </dgm:t>
    </dgm:pt>
    <dgm:pt modelId="{14058066-3486-4E99-B0C6-630F2FC345E3}" type="sibTrans" cxnId="{4D493132-B62F-4613-8E32-CF53B5A58608}">
      <dgm:prSet/>
      <dgm:spPr/>
      <dgm:t>
        <a:bodyPr/>
        <a:lstStyle/>
        <a:p>
          <a:endParaRPr lang="en-US"/>
        </a:p>
      </dgm:t>
    </dgm:pt>
    <dgm:pt modelId="{AB8294A6-4F68-4873-9574-9B85FE03E708}">
      <dgm:prSet/>
      <dgm:spPr/>
      <dgm:t>
        <a:bodyPr/>
        <a:lstStyle/>
        <a:p>
          <a:r>
            <a:rPr lang="en-US" dirty="0"/>
            <a:t>4. Multi-Family properties are the highest consumers among building types.</a:t>
          </a:r>
        </a:p>
      </dgm:t>
    </dgm:pt>
    <dgm:pt modelId="{9005F77E-7E10-48C4-AE29-12DB0FCE9345}" type="parTrans" cxnId="{D6715400-DCFC-4D56-9BAC-8D56B19527C0}">
      <dgm:prSet/>
      <dgm:spPr/>
      <dgm:t>
        <a:bodyPr/>
        <a:lstStyle/>
        <a:p>
          <a:endParaRPr lang="en-US"/>
        </a:p>
      </dgm:t>
    </dgm:pt>
    <dgm:pt modelId="{B4573198-46E5-44CE-BA67-F53C7D939204}" type="sibTrans" cxnId="{D6715400-DCFC-4D56-9BAC-8D56B19527C0}">
      <dgm:prSet/>
      <dgm:spPr/>
      <dgm:t>
        <a:bodyPr/>
        <a:lstStyle/>
        <a:p>
          <a:endParaRPr lang="en-US"/>
        </a:p>
      </dgm:t>
    </dgm:pt>
    <dgm:pt modelId="{6D6A180F-BC4E-482B-9CD2-6F45330FE085}">
      <dgm:prSet/>
      <dgm:spPr/>
      <dgm:t>
        <a:bodyPr/>
        <a:lstStyle/>
        <a:p>
          <a:r>
            <a:rPr lang="en-US" dirty="0"/>
            <a:t>5. Downswing in 2024–2025 indicates potential efficiency improvements or operational changes.</a:t>
          </a:r>
        </a:p>
      </dgm:t>
    </dgm:pt>
    <dgm:pt modelId="{CA3DEE44-2F32-4FE4-AAD0-09D1B73DC8D8}" type="parTrans" cxnId="{1523140A-8A06-44C2-B9BB-8A6AC86DA14A}">
      <dgm:prSet/>
      <dgm:spPr/>
      <dgm:t>
        <a:bodyPr/>
        <a:lstStyle/>
        <a:p>
          <a:endParaRPr lang="en-US"/>
        </a:p>
      </dgm:t>
    </dgm:pt>
    <dgm:pt modelId="{EF700338-E65A-434E-A854-5F7718664A5D}" type="sibTrans" cxnId="{1523140A-8A06-44C2-B9BB-8A6AC86DA14A}">
      <dgm:prSet/>
      <dgm:spPr/>
      <dgm:t>
        <a:bodyPr/>
        <a:lstStyle/>
        <a:p>
          <a:endParaRPr lang="en-US"/>
        </a:p>
      </dgm:t>
    </dgm:pt>
    <dgm:pt modelId="{BA70011A-E423-4105-8D1C-FC81E6F422F8}" type="pres">
      <dgm:prSet presAssocID="{75119CA3-29CE-4173-811E-9F4CC07C8986}" presName="root" presStyleCnt="0">
        <dgm:presLayoutVars>
          <dgm:dir/>
          <dgm:resizeHandles val="exact"/>
        </dgm:presLayoutVars>
      </dgm:prSet>
      <dgm:spPr/>
    </dgm:pt>
    <dgm:pt modelId="{2E3D17C9-AA73-43BE-8F3A-255CC7CDCF94}" type="pres">
      <dgm:prSet presAssocID="{B4E5D449-6BEC-4B17-A184-3108380A0B20}" presName="compNode" presStyleCnt="0"/>
      <dgm:spPr/>
    </dgm:pt>
    <dgm:pt modelId="{69DD8593-22E1-4E36-AB0D-397DC4013606}" type="pres">
      <dgm:prSet presAssocID="{B4E5D449-6BEC-4B17-A184-3108380A0B20}" presName="bgRect" presStyleLbl="bgShp" presStyleIdx="0" presStyleCnt="5"/>
      <dgm:spPr/>
    </dgm:pt>
    <dgm:pt modelId="{BE7FC817-81F9-4953-81EF-5E9072328B8A}" type="pres">
      <dgm:prSet presAssocID="{B4E5D449-6BEC-4B17-A184-3108380A0B2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0B02F347-2D40-49BC-87D7-DFAD4E9B13B4}" type="pres">
      <dgm:prSet presAssocID="{B4E5D449-6BEC-4B17-A184-3108380A0B20}" presName="spaceRect" presStyleCnt="0"/>
      <dgm:spPr/>
    </dgm:pt>
    <dgm:pt modelId="{E41B5094-0166-45F6-B5C7-1B16064B8A74}" type="pres">
      <dgm:prSet presAssocID="{B4E5D449-6BEC-4B17-A184-3108380A0B20}" presName="parTx" presStyleLbl="revTx" presStyleIdx="0" presStyleCnt="5">
        <dgm:presLayoutVars>
          <dgm:chMax val="0"/>
          <dgm:chPref val="0"/>
        </dgm:presLayoutVars>
      </dgm:prSet>
      <dgm:spPr/>
    </dgm:pt>
    <dgm:pt modelId="{656925E0-D0F7-41BC-85D1-5F6DF9D12B73}" type="pres">
      <dgm:prSet presAssocID="{F554964C-0805-4BED-95DB-3229287243FF}" presName="sibTrans" presStyleCnt="0"/>
      <dgm:spPr/>
    </dgm:pt>
    <dgm:pt modelId="{C0AC7D11-8AA9-47F7-B6E3-21D607F526B2}" type="pres">
      <dgm:prSet presAssocID="{09FB6871-6047-4E85-B82C-179C6F6D91E4}" presName="compNode" presStyleCnt="0"/>
      <dgm:spPr/>
    </dgm:pt>
    <dgm:pt modelId="{8C1B3238-D9D2-47D8-88A2-94F15D2C356D}" type="pres">
      <dgm:prSet presAssocID="{09FB6871-6047-4E85-B82C-179C6F6D91E4}" presName="bgRect" presStyleLbl="bgShp" presStyleIdx="1" presStyleCnt="5"/>
      <dgm:spPr/>
    </dgm:pt>
    <dgm:pt modelId="{9914B9E9-4ACE-42AD-8108-450C114CD2E9}" type="pres">
      <dgm:prSet presAssocID="{09FB6871-6047-4E85-B82C-179C6F6D91E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EF371A4-75D8-444B-88EC-F1CB1FF70179}" type="pres">
      <dgm:prSet presAssocID="{09FB6871-6047-4E85-B82C-179C6F6D91E4}" presName="spaceRect" presStyleCnt="0"/>
      <dgm:spPr/>
    </dgm:pt>
    <dgm:pt modelId="{72FC2EEA-103E-4680-B787-D8930EB445F8}" type="pres">
      <dgm:prSet presAssocID="{09FB6871-6047-4E85-B82C-179C6F6D91E4}" presName="parTx" presStyleLbl="revTx" presStyleIdx="1" presStyleCnt="5">
        <dgm:presLayoutVars>
          <dgm:chMax val="0"/>
          <dgm:chPref val="0"/>
        </dgm:presLayoutVars>
      </dgm:prSet>
      <dgm:spPr/>
    </dgm:pt>
    <dgm:pt modelId="{67953580-0EF4-4612-AEAA-15BC9E18CB5C}" type="pres">
      <dgm:prSet presAssocID="{AAB22CFE-A52D-4DE2-96E1-6C5CB7672EB3}" presName="sibTrans" presStyleCnt="0"/>
      <dgm:spPr/>
    </dgm:pt>
    <dgm:pt modelId="{F5419934-ED5D-43E2-990A-4685EDB3F1B7}" type="pres">
      <dgm:prSet presAssocID="{9F3730F6-2869-4721-A826-94FDDE861B8C}" presName="compNode" presStyleCnt="0"/>
      <dgm:spPr/>
    </dgm:pt>
    <dgm:pt modelId="{6CABB32C-B1D3-4EDD-8136-F2040C66A8B3}" type="pres">
      <dgm:prSet presAssocID="{9F3730F6-2869-4721-A826-94FDDE861B8C}" presName="bgRect" presStyleLbl="bgShp" presStyleIdx="2" presStyleCnt="5"/>
      <dgm:spPr/>
    </dgm:pt>
    <dgm:pt modelId="{F3AAA634-6CE2-44E2-938F-08D27399A6A7}" type="pres">
      <dgm:prSet presAssocID="{9F3730F6-2869-4721-A826-94FDDE861B8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75032005-B726-4A62-841E-7541265E1634}" type="pres">
      <dgm:prSet presAssocID="{9F3730F6-2869-4721-A826-94FDDE861B8C}" presName="spaceRect" presStyleCnt="0"/>
      <dgm:spPr/>
    </dgm:pt>
    <dgm:pt modelId="{6039B047-BA2B-49D2-98A4-DB04F564E87F}" type="pres">
      <dgm:prSet presAssocID="{9F3730F6-2869-4721-A826-94FDDE861B8C}" presName="parTx" presStyleLbl="revTx" presStyleIdx="2" presStyleCnt="5">
        <dgm:presLayoutVars>
          <dgm:chMax val="0"/>
          <dgm:chPref val="0"/>
        </dgm:presLayoutVars>
      </dgm:prSet>
      <dgm:spPr/>
    </dgm:pt>
    <dgm:pt modelId="{118391AC-00F5-4DFA-93A5-F5DB11B309FC}" type="pres">
      <dgm:prSet presAssocID="{14058066-3486-4E99-B0C6-630F2FC345E3}" presName="sibTrans" presStyleCnt="0"/>
      <dgm:spPr/>
    </dgm:pt>
    <dgm:pt modelId="{26C75370-CDB7-4189-B7D0-86532FFC9ACF}" type="pres">
      <dgm:prSet presAssocID="{AB8294A6-4F68-4873-9574-9B85FE03E708}" presName="compNode" presStyleCnt="0"/>
      <dgm:spPr/>
    </dgm:pt>
    <dgm:pt modelId="{A8552EB8-B385-4F4F-9BD7-25380F3C52FC}" type="pres">
      <dgm:prSet presAssocID="{AB8294A6-4F68-4873-9574-9B85FE03E708}" presName="bgRect" presStyleLbl="bgShp" presStyleIdx="3" presStyleCnt="5"/>
      <dgm:spPr/>
    </dgm:pt>
    <dgm:pt modelId="{C34FDA7D-9B3E-4D3C-AA14-0202DC1DA8F3}" type="pres">
      <dgm:prSet presAssocID="{AB8294A6-4F68-4873-9574-9B85FE03E70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4BBB344F-2BA5-420F-8D95-409AE8321118}" type="pres">
      <dgm:prSet presAssocID="{AB8294A6-4F68-4873-9574-9B85FE03E708}" presName="spaceRect" presStyleCnt="0"/>
      <dgm:spPr/>
    </dgm:pt>
    <dgm:pt modelId="{572E2847-5EB3-426C-85F9-3FCADB6A1402}" type="pres">
      <dgm:prSet presAssocID="{AB8294A6-4F68-4873-9574-9B85FE03E708}" presName="parTx" presStyleLbl="revTx" presStyleIdx="3" presStyleCnt="5">
        <dgm:presLayoutVars>
          <dgm:chMax val="0"/>
          <dgm:chPref val="0"/>
        </dgm:presLayoutVars>
      </dgm:prSet>
      <dgm:spPr/>
    </dgm:pt>
    <dgm:pt modelId="{726E4964-2CBC-4B2E-A3B4-C61507087FF4}" type="pres">
      <dgm:prSet presAssocID="{B4573198-46E5-44CE-BA67-F53C7D939204}" presName="sibTrans" presStyleCnt="0"/>
      <dgm:spPr/>
    </dgm:pt>
    <dgm:pt modelId="{62B5B7F9-16CB-4535-B07D-41B770ECFBE4}" type="pres">
      <dgm:prSet presAssocID="{6D6A180F-BC4E-482B-9CD2-6F45330FE085}" presName="compNode" presStyleCnt="0"/>
      <dgm:spPr/>
    </dgm:pt>
    <dgm:pt modelId="{D722E3D1-3048-4581-8110-9157A473F30E}" type="pres">
      <dgm:prSet presAssocID="{6D6A180F-BC4E-482B-9CD2-6F45330FE085}" presName="bgRect" presStyleLbl="bgShp" presStyleIdx="4" presStyleCnt="5"/>
      <dgm:spPr/>
    </dgm:pt>
    <dgm:pt modelId="{C6113755-9495-4122-9F71-9863FD6616F5}" type="pres">
      <dgm:prSet presAssocID="{6D6A180F-BC4E-482B-9CD2-6F45330FE08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FFA6579E-B83C-48EC-A211-57AC38B5C72B}" type="pres">
      <dgm:prSet presAssocID="{6D6A180F-BC4E-482B-9CD2-6F45330FE085}" presName="spaceRect" presStyleCnt="0"/>
      <dgm:spPr/>
    </dgm:pt>
    <dgm:pt modelId="{28640FD6-2D8F-45E1-90A2-6C1E077EBB1E}" type="pres">
      <dgm:prSet presAssocID="{6D6A180F-BC4E-482B-9CD2-6F45330FE08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6715400-DCFC-4D56-9BAC-8D56B19527C0}" srcId="{75119CA3-29CE-4173-811E-9F4CC07C8986}" destId="{AB8294A6-4F68-4873-9574-9B85FE03E708}" srcOrd="3" destOrd="0" parTransId="{9005F77E-7E10-48C4-AE29-12DB0FCE9345}" sibTransId="{B4573198-46E5-44CE-BA67-F53C7D939204}"/>
    <dgm:cxn modelId="{EBF49803-9AB8-4E69-A9E4-7EE141493D40}" type="presOf" srcId="{9F3730F6-2869-4721-A826-94FDDE861B8C}" destId="{6039B047-BA2B-49D2-98A4-DB04F564E87F}" srcOrd="0" destOrd="0" presId="urn:microsoft.com/office/officeart/2018/2/layout/IconVerticalSolidList"/>
    <dgm:cxn modelId="{0221C003-5B99-4C82-9F2B-5CEA28AE45C2}" srcId="{75119CA3-29CE-4173-811E-9F4CC07C8986}" destId="{09FB6871-6047-4E85-B82C-179C6F6D91E4}" srcOrd="1" destOrd="0" parTransId="{4BCB01A4-2577-4D19-B1C6-B1C247109692}" sibTransId="{AAB22CFE-A52D-4DE2-96E1-6C5CB7672EB3}"/>
    <dgm:cxn modelId="{D39D1906-CA3A-445C-98A3-FCBB2FCF71F8}" srcId="{75119CA3-29CE-4173-811E-9F4CC07C8986}" destId="{B4E5D449-6BEC-4B17-A184-3108380A0B20}" srcOrd="0" destOrd="0" parTransId="{A858616D-51BB-4DBB-83D3-3F5763597E00}" sibTransId="{F554964C-0805-4BED-95DB-3229287243FF}"/>
    <dgm:cxn modelId="{1523140A-8A06-44C2-B9BB-8A6AC86DA14A}" srcId="{75119CA3-29CE-4173-811E-9F4CC07C8986}" destId="{6D6A180F-BC4E-482B-9CD2-6F45330FE085}" srcOrd="4" destOrd="0" parTransId="{CA3DEE44-2F32-4FE4-AAD0-09D1B73DC8D8}" sibTransId="{EF700338-E65A-434E-A854-5F7718664A5D}"/>
    <dgm:cxn modelId="{4D493132-B62F-4613-8E32-CF53B5A58608}" srcId="{75119CA3-29CE-4173-811E-9F4CC07C8986}" destId="{9F3730F6-2869-4721-A826-94FDDE861B8C}" srcOrd="2" destOrd="0" parTransId="{7ED8DD78-FE60-46AC-AFAC-4648181AFB96}" sibTransId="{14058066-3486-4E99-B0C6-630F2FC345E3}"/>
    <dgm:cxn modelId="{DC4F6132-C696-4E5A-AC76-8A7D462E279D}" type="presOf" srcId="{B4E5D449-6BEC-4B17-A184-3108380A0B20}" destId="{E41B5094-0166-45F6-B5C7-1B16064B8A74}" srcOrd="0" destOrd="0" presId="urn:microsoft.com/office/officeart/2018/2/layout/IconVerticalSolidList"/>
    <dgm:cxn modelId="{38FE4148-CEF8-4F2D-A9A8-807138D04C16}" type="presOf" srcId="{09FB6871-6047-4E85-B82C-179C6F6D91E4}" destId="{72FC2EEA-103E-4680-B787-D8930EB445F8}" srcOrd="0" destOrd="0" presId="urn:microsoft.com/office/officeart/2018/2/layout/IconVerticalSolidList"/>
    <dgm:cxn modelId="{381CE77E-8345-4FA3-A302-4E6718859EE4}" type="presOf" srcId="{AB8294A6-4F68-4873-9574-9B85FE03E708}" destId="{572E2847-5EB3-426C-85F9-3FCADB6A1402}" srcOrd="0" destOrd="0" presId="urn:microsoft.com/office/officeart/2018/2/layout/IconVerticalSolidList"/>
    <dgm:cxn modelId="{DD95F7A3-29AB-4F1D-BCCD-47C571CFE277}" type="presOf" srcId="{6D6A180F-BC4E-482B-9CD2-6F45330FE085}" destId="{28640FD6-2D8F-45E1-90A2-6C1E077EBB1E}" srcOrd="0" destOrd="0" presId="urn:microsoft.com/office/officeart/2018/2/layout/IconVerticalSolidList"/>
    <dgm:cxn modelId="{A2A2A6C6-C9F3-475B-8CAF-8F690E9AF9F8}" type="presOf" srcId="{75119CA3-29CE-4173-811E-9F4CC07C8986}" destId="{BA70011A-E423-4105-8D1C-FC81E6F422F8}" srcOrd="0" destOrd="0" presId="urn:microsoft.com/office/officeart/2018/2/layout/IconVerticalSolidList"/>
    <dgm:cxn modelId="{25E8D94E-6753-446C-B051-437EF5F7B1D3}" type="presParOf" srcId="{BA70011A-E423-4105-8D1C-FC81E6F422F8}" destId="{2E3D17C9-AA73-43BE-8F3A-255CC7CDCF94}" srcOrd="0" destOrd="0" presId="urn:microsoft.com/office/officeart/2018/2/layout/IconVerticalSolidList"/>
    <dgm:cxn modelId="{8CAFEFE3-A359-48DC-9C5C-6DFCB0ED98E6}" type="presParOf" srcId="{2E3D17C9-AA73-43BE-8F3A-255CC7CDCF94}" destId="{69DD8593-22E1-4E36-AB0D-397DC4013606}" srcOrd="0" destOrd="0" presId="urn:microsoft.com/office/officeart/2018/2/layout/IconVerticalSolidList"/>
    <dgm:cxn modelId="{4053F8A8-F372-4EDC-98B6-AB8DA96DEB0C}" type="presParOf" srcId="{2E3D17C9-AA73-43BE-8F3A-255CC7CDCF94}" destId="{BE7FC817-81F9-4953-81EF-5E9072328B8A}" srcOrd="1" destOrd="0" presId="urn:microsoft.com/office/officeart/2018/2/layout/IconVerticalSolidList"/>
    <dgm:cxn modelId="{74E3C7C6-A077-41E1-BBC0-5649B9C6D216}" type="presParOf" srcId="{2E3D17C9-AA73-43BE-8F3A-255CC7CDCF94}" destId="{0B02F347-2D40-49BC-87D7-DFAD4E9B13B4}" srcOrd="2" destOrd="0" presId="urn:microsoft.com/office/officeart/2018/2/layout/IconVerticalSolidList"/>
    <dgm:cxn modelId="{708B5A8E-2A56-492E-8D6F-D44B5CD187C1}" type="presParOf" srcId="{2E3D17C9-AA73-43BE-8F3A-255CC7CDCF94}" destId="{E41B5094-0166-45F6-B5C7-1B16064B8A74}" srcOrd="3" destOrd="0" presId="urn:microsoft.com/office/officeart/2018/2/layout/IconVerticalSolidList"/>
    <dgm:cxn modelId="{E18B8437-77F6-402D-B5F6-6E4311D53B82}" type="presParOf" srcId="{BA70011A-E423-4105-8D1C-FC81E6F422F8}" destId="{656925E0-D0F7-41BC-85D1-5F6DF9D12B73}" srcOrd="1" destOrd="0" presId="urn:microsoft.com/office/officeart/2018/2/layout/IconVerticalSolidList"/>
    <dgm:cxn modelId="{1A280021-6C28-48EA-B660-DEEBEB771760}" type="presParOf" srcId="{BA70011A-E423-4105-8D1C-FC81E6F422F8}" destId="{C0AC7D11-8AA9-47F7-B6E3-21D607F526B2}" srcOrd="2" destOrd="0" presId="urn:microsoft.com/office/officeart/2018/2/layout/IconVerticalSolidList"/>
    <dgm:cxn modelId="{953D5D44-013B-419B-BA74-1089988BFFB6}" type="presParOf" srcId="{C0AC7D11-8AA9-47F7-B6E3-21D607F526B2}" destId="{8C1B3238-D9D2-47D8-88A2-94F15D2C356D}" srcOrd="0" destOrd="0" presId="urn:microsoft.com/office/officeart/2018/2/layout/IconVerticalSolidList"/>
    <dgm:cxn modelId="{E844637E-9D1A-45D8-A106-360AACE1D942}" type="presParOf" srcId="{C0AC7D11-8AA9-47F7-B6E3-21D607F526B2}" destId="{9914B9E9-4ACE-42AD-8108-450C114CD2E9}" srcOrd="1" destOrd="0" presId="urn:microsoft.com/office/officeart/2018/2/layout/IconVerticalSolidList"/>
    <dgm:cxn modelId="{4C1EBC6D-A670-4108-AFFE-802833D45968}" type="presParOf" srcId="{C0AC7D11-8AA9-47F7-B6E3-21D607F526B2}" destId="{DEF371A4-75D8-444B-88EC-F1CB1FF70179}" srcOrd="2" destOrd="0" presId="urn:microsoft.com/office/officeart/2018/2/layout/IconVerticalSolidList"/>
    <dgm:cxn modelId="{6C41154F-BE2E-475D-8825-0A7E038B4E00}" type="presParOf" srcId="{C0AC7D11-8AA9-47F7-B6E3-21D607F526B2}" destId="{72FC2EEA-103E-4680-B787-D8930EB445F8}" srcOrd="3" destOrd="0" presId="urn:microsoft.com/office/officeart/2018/2/layout/IconVerticalSolidList"/>
    <dgm:cxn modelId="{BB96EDB5-7BDF-4B8E-A157-4DFC5CAF7A79}" type="presParOf" srcId="{BA70011A-E423-4105-8D1C-FC81E6F422F8}" destId="{67953580-0EF4-4612-AEAA-15BC9E18CB5C}" srcOrd="3" destOrd="0" presId="urn:microsoft.com/office/officeart/2018/2/layout/IconVerticalSolidList"/>
    <dgm:cxn modelId="{E6F329D8-BF07-4B96-80AF-0E5BC139FD9A}" type="presParOf" srcId="{BA70011A-E423-4105-8D1C-FC81E6F422F8}" destId="{F5419934-ED5D-43E2-990A-4685EDB3F1B7}" srcOrd="4" destOrd="0" presId="urn:microsoft.com/office/officeart/2018/2/layout/IconVerticalSolidList"/>
    <dgm:cxn modelId="{3B8D1B14-3ACD-431C-9252-DBB0E9B89AEB}" type="presParOf" srcId="{F5419934-ED5D-43E2-990A-4685EDB3F1B7}" destId="{6CABB32C-B1D3-4EDD-8136-F2040C66A8B3}" srcOrd="0" destOrd="0" presId="urn:microsoft.com/office/officeart/2018/2/layout/IconVerticalSolidList"/>
    <dgm:cxn modelId="{666929CB-C8F4-4F6A-BD76-066AB92B1F8E}" type="presParOf" srcId="{F5419934-ED5D-43E2-990A-4685EDB3F1B7}" destId="{F3AAA634-6CE2-44E2-938F-08D27399A6A7}" srcOrd="1" destOrd="0" presId="urn:microsoft.com/office/officeart/2018/2/layout/IconVerticalSolidList"/>
    <dgm:cxn modelId="{1EC937FD-AE5D-40C6-94CC-C7AEDED19C31}" type="presParOf" srcId="{F5419934-ED5D-43E2-990A-4685EDB3F1B7}" destId="{75032005-B726-4A62-841E-7541265E1634}" srcOrd="2" destOrd="0" presId="urn:microsoft.com/office/officeart/2018/2/layout/IconVerticalSolidList"/>
    <dgm:cxn modelId="{FE04F289-3DAD-4042-A3CC-41C023B41B3E}" type="presParOf" srcId="{F5419934-ED5D-43E2-990A-4685EDB3F1B7}" destId="{6039B047-BA2B-49D2-98A4-DB04F564E87F}" srcOrd="3" destOrd="0" presId="urn:microsoft.com/office/officeart/2018/2/layout/IconVerticalSolidList"/>
    <dgm:cxn modelId="{E319A6C5-608A-4CB4-BB3D-CF866B5C5C98}" type="presParOf" srcId="{BA70011A-E423-4105-8D1C-FC81E6F422F8}" destId="{118391AC-00F5-4DFA-93A5-F5DB11B309FC}" srcOrd="5" destOrd="0" presId="urn:microsoft.com/office/officeart/2018/2/layout/IconVerticalSolidList"/>
    <dgm:cxn modelId="{7A04B621-606F-4461-9394-27B1AC693ED6}" type="presParOf" srcId="{BA70011A-E423-4105-8D1C-FC81E6F422F8}" destId="{26C75370-CDB7-4189-B7D0-86532FFC9ACF}" srcOrd="6" destOrd="0" presId="urn:microsoft.com/office/officeart/2018/2/layout/IconVerticalSolidList"/>
    <dgm:cxn modelId="{BF118609-E47D-4B38-8077-C284867C8E45}" type="presParOf" srcId="{26C75370-CDB7-4189-B7D0-86532FFC9ACF}" destId="{A8552EB8-B385-4F4F-9BD7-25380F3C52FC}" srcOrd="0" destOrd="0" presId="urn:microsoft.com/office/officeart/2018/2/layout/IconVerticalSolidList"/>
    <dgm:cxn modelId="{B0C1A56D-3645-4C1A-BE60-3B4E2FC06F67}" type="presParOf" srcId="{26C75370-CDB7-4189-B7D0-86532FFC9ACF}" destId="{C34FDA7D-9B3E-4D3C-AA14-0202DC1DA8F3}" srcOrd="1" destOrd="0" presId="urn:microsoft.com/office/officeart/2018/2/layout/IconVerticalSolidList"/>
    <dgm:cxn modelId="{96A1D91A-90DF-48AC-B79C-A44714716AF6}" type="presParOf" srcId="{26C75370-CDB7-4189-B7D0-86532FFC9ACF}" destId="{4BBB344F-2BA5-420F-8D95-409AE8321118}" srcOrd="2" destOrd="0" presId="urn:microsoft.com/office/officeart/2018/2/layout/IconVerticalSolidList"/>
    <dgm:cxn modelId="{35A67264-393A-4660-832F-5AB83D1AB51D}" type="presParOf" srcId="{26C75370-CDB7-4189-B7D0-86532FFC9ACF}" destId="{572E2847-5EB3-426C-85F9-3FCADB6A1402}" srcOrd="3" destOrd="0" presId="urn:microsoft.com/office/officeart/2018/2/layout/IconVerticalSolidList"/>
    <dgm:cxn modelId="{F94AE754-F653-4F05-976D-801282011A1F}" type="presParOf" srcId="{BA70011A-E423-4105-8D1C-FC81E6F422F8}" destId="{726E4964-2CBC-4B2E-A3B4-C61507087FF4}" srcOrd="7" destOrd="0" presId="urn:microsoft.com/office/officeart/2018/2/layout/IconVerticalSolidList"/>
    <dgm:cxn modelId="{556AEA53-DB03-4CB0-B617-F2D893B81209}" type="presParOf" srcId="{BA70011A-E423-4105-8D1C-FC81E6F422F8}" destId="{62B5B7F9-16CB-4535-B07D-41B770ECFBE4}" srcOrd="8" destOrd="0" presId="urn:microsoft.com/office/officeart/2018/2/layout/IconVerticalSolidList"/>
    <dgm:cxn modelId="{8CF3BE1C-0835-41EA-93EE-D9C5A1B41382}" type="presParOf" srcId="{62B5B7F9-16CB-4535-B07D-41B770ECFBE4}" destId="{D722E3D1-3048-4581-8110-9157A473F30E}" srcOrd="0" destOrd="0" presId="urn:microsoft.com/office/officeart/2018/2/layout/IconVerticalSolidList"/>
    <dgm:cxn modelId="{7AF525B2-D9CF-4A0A-A8BD-ABA672F39723}" type="presParOf" srcId="{62B5B7F9-16CB-4535-B07D-41B770ECFBE4}" destId="{C6113755-9495-4122-9F71-9863FD6616F5}" srcOrd="1" destOrd="0" presId="urn:microsoft.com/office/officeart/2018/2/layout/IconVerticalSolidList"/>
    <dgm:cxn modelId="{FD3F02E1-C792-4A70-BF62-55CEF3F7EFAA}" type="presParOf" srcId="{62B5B7F9-16CB-4535-B07D-41B770ECFBE4}" destId="{FFA6579E-B83C-48EC-A211-57AC38B5C72B}" srcOrd="2" destOrd="0" presId="urn:microsoft.com/office/officeart/2018/2/layout/IconVerticalSolidList"/>
    <dgm:cxn modelId="{4D2F08F4-ED0F-4B7D-B944-09C376EC3CA5}" type="presParOf" srcId="{62B5B7F9-16CB-4535-B07D-41B770ECFBE4}" destId="{28640FD6-2D8F-45E1-90A2-6C1E077EBB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D8593-22E1-4E36-AB0D-397DC4013606}">
      <dsp:nvSpPr>
        <dsp:cNvPr id="0" name=""/>
        <dsp:cNvSpPr/>
      </dsp:nvSpPr>
      <dsp:spPr>
        <a:xfrm>
          <a:off x="0" y="3404"/>
          <a:ext cx="7886700" cy="7251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FC817-81F9-4953-81EF-5E9072328B8A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B5094-0166-45F6-B5C7-1B16064B8A74}">
      <dsp:nvSpPr>
        <dsp:cNvPr id="0" name=""/>
        <dsp:cNvSpPr/>
      </dsp:nvSpPr>
      <dsp:spPr>
        <a:xfrm>
          <a:off x="837512" y="3404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1. Energy usage dominates significantly higher than water and waste.</a:t>
          </a:r>
        </a:p>
      </dsp:txBody>
      <dsp:txXfrm>
        <a:off x="837512" y="3404"/>
        <a:ext cx="7049187" cy="725119"/>
      </dsp:txXfrm>
    </dsp:sp>
    <dsp:sp modelId="{8C1B3238-D9D2-47D8-88A2-94F15D2C356D}">
      <dsp:nvSpPr>
        <dsp:cNvPr id="0" name=""/>
        <dsp:cNvSpPr/>
      </dsp:nvSpPr>
      <dsp:spPr>
        <a:xfrm>
          <a:off x="0" y="909803"/>
          <a:ext cx="7886700" cy="7251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14B9E9-4ACE-42AD-8108-450C114CD2E9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C2EEA-103E-4680-B787-D8930EB445F8}">
      <dsp:nvSpPr>
        <dsp:cNvPr id="0" name=""/>
        <dsp:cNvSpPr/>
      </dsp:nvSpPr>
      <dsp:spPr>
        <a:xfrm>
          <a:off x="837512" y="909803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2. Utility usage increased steadily and peaked in 2023. </a:t>
          </a:r>
        </a:p>
      </dsp:txBody>
      <dsp:txXfrm>
        <a:off x="837512" y="909803"/>
        <a:ext cx="7049187" cy="725119"/>
      </dsp:txXfrm>
    </dsp:sp>
    <dsp:sp modelId="{6CABB32C-B1D3-4EDD-8136-F2040C66A8B3}">
      <dsp:nvSpPr>
        <dsp:cNvPr id="0" name=""/>
        <dsp:cNvSpPr/>
      </dsp:nvSpPr>
      <dsp:spPr>
        <a:xfrm>
          <a:off x="0" y="1816202"/>
          <a:ext cx="7886700" cy="7251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AAA634-6CE2-44E2-938F-08D27399A6A7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9B047-BA2B-49D2-98A4-DB04F564E87F}">
      <dsp:nvSpPr>
        <dsp:cNvPr id="0" name=""/>
        <dsp:cNvSpPr/>
      </dsp:nvSpPr>
      <dsp:spPr>
        <a:xfrm>
          <a:off x="837512" y="1816202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3. The Central region is the higher consumption that other building types. </a:t>
          </a:r>
        </a:p>
      </dsp:txBody>
      <dsp:txXfrm>
        <a:off x="837512" y="1816202"/>
        <a:ext cx="7049187" cy="725119"/>
      </dsp:txXfrm>
    </dsp:sp>
    <dsp:sp modelId="{A8552EB8-B385-4F4F-9BD7-25380F3C52FC}">
      <dsp:nvSpPr>
        <dsp:cNvPr id="0" name=""/>
        <dsp:cNvSpPr/>
      </dsp:nvSpPr>
      <dsp:spPr>
        <a:xfrm>
          <a:off x="0" y="2722601"/>
          <a:ext cx="7886700" cy="7251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4FDA7D-9B3E-4D3C-AA14-0202DC1DA8F3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E2847-5EB3-426C-85F9-3FCADB6A1402}">
      <dsp:nvSpPr>
        <dsp:cNvPr id="0" name=""/>
        <dsp:cNvSpPr/>
      </dsp:nvSpPr>
      <dsp:spPr>
        <a:xfrm>
          <a:off x="837512" y="2722601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4. Multi-Family properties are the highest consumers among building types.</a:t>
          </a:r>
        </a:p>
      </dsp:txBody>
      <dsp:txXfrm>
        <a:off x="837512" y="2722601"/>
        <a:ext cx="7049187" cy="725119"/>
      </dsp:txXfrm>
    </dsp:sp>
    <dsp:sp modelId="{D722E3D1-3048-4581-8110-9157A473F30E}">
      <dsp:nvSpPr>
        <dsp:cNvPr id="0" name=""/>
        <dsp:cNvSpPr/>
      </dsp:nvSpPr>
      <dsp:spPr>
        <a:xfrm>
          <a:off x="0" y="3629000"/>
          <a:ext cx="7886700" cy="7251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113755-9495-4122-9F71-9863FD6616F5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40FD6-2D8F-45E1-90A2-6C1E077EBB1E}">
      <dsp:nvSpPr>
        <dsp:cNvPr id="0" name=""/>
        <dsp:cNvSpPr/>
      </dsp:nvSpPr>
      <dsp:spPr>
        <a:xfrm>
          <a:off x="837512" y="3629000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5. Downswing in 2024–2025 indicates potential efficiency improvements or operational changes.</a:t>
          </a:r>
        </a:p>
      </dsp:txBody>
      <dsp:txXfrm>
        <a:off x="837512" y="3629000"/>
        <a:ext cx="7049187" cy="7251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8E700A8-AE52-4017-8C7E-C20956F74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516C1EB-8D62-4BF0-92B5-02E6AE43B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A737E5B8-8F31-4942-B159-B213C4D6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8F530DA-C7D1-4968-8F8A-8700C2BB2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06" y="729175"/>
            <a:ext cx="8324514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8635" y="2951485"/>
            <a:ext cx="6336052" cy="2786218"/>
          </a:xfrm>
        </p:spPr>
        <p:txBody>
          <a:bodyPr anchor="t">
            <a:normAutofit/>
          </a:bodyPr>
          <a:lstStyle/>
          <a:p>
            <a:pPr algn="l"/>
            <a:r>
              <a:rPr lang="en-US" sz="3300" dirty="0"/>
              <a:t>Utility Usage Year‑Over‑Year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8634" y="1108727"/>
            <a:ext cx="4783297" cy="1671043"/>
          </a:xfrm>
        </p:spPr>
        <p:txBody>
          <a:bodyPr anchor="b">
            <a:normAutofit/>
          </a:bodyPr>
          <a:lstStyle/>
          <a:p>
            <a:pPr algn="l"/>
            <a:r>
              <a:rPr lang="en-US" sz="1700" dirty="0">
                <a:solidFill>
                  <a:schemeClr val="tx1">
                    <a:alpha val="70000"/>
                  </a:schemeClr>
                </a:solidFill>
              </a:rPr>
              <a:t>Prepared by Anvitha</a:t>
            </a:r>
            <a:br>
              <a:rPr lang="en-US" sz="1700" dirty="0">
                <a:solidFill>
                  <a:schemeClr val="tx1">
                    <a:alpha val="70000"/>
                  </a:schemeClr>
                </a:solidFill>
              </a:rPr>
            </a:br>
            <a:endParaRPr lang="en-US" sz="17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F8A863E-153B-ADEE-7F13-28FA9BDB0D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1289649"/>
            <a:ext cx="2291751" cy="229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Objective: Analyze year‑over‑year utility usage trends.</a:t>
            </a:r>
          </a:p>
          <a:p>
            <a:r>
              <a:rPr dirty="0"/>
              <a:t>Focus: Building types, regions, total utility usage.</a:t>
            </a:r>
          </a:p>
          <a:p>
            <a:r>
              <a:rPr dirty="0"/>
              <a:t>Deliverable: Single‑page Power BI dashboard (3–4 visuals).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included building-level utility information with fields like building type, region, utility category, and usage values.</a:t>
            </a:r>
            <a:br>
              <a:rPr lang="en-US" dirty="0"/>
            </a:br>
            <a:r>
              <a:rPr lang="en-US" dirty="0"/>
              <a:t>I worked with the cleaned version provided and structured it for trend analysis.</a:t>
            </a:r>
          </a:p>
          <a:p>
            <a:r>
              <a:rPr dirty="0"/>
              <a:t>Preprocessed using Alteryx: summarization, joins, YoY calculations.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149CDF-5DAC-4860-A285-9492CF209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06" y="729175"/>
            <a:ext cx="8324514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974" y="905012"/>
            <a:ext cx="7519656" cy="578732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900" dirty="0"/>
              <a:t>3. Data Preparation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63" y="2093345"/>
            <a:ext cx="3427015" cy="3090548"/>
          </a:xfrm>
        </p:spPr>
        <p:txBody>
          <a:bodyPr>
            <a:normAutofit/>
          </a:bodyPr>
          <a:lstStyle/>
          <a:p>
            <a:r>
              <a:rPr lang="en-US" sz="1600" dirty="0"/>
              <a:t>My goal was to create a dataset that supports trend analysis.</a:t>
            </a:r>
            <a:br>
              <a:rPr lang="en-US" sz="1600" dirty="0"/>
            </a:br>
            <a:r>
              <a:rPr lang="en-US" sz="1600" dirty="0"/>
              <a:t>So I summarized usage by building, region, year, and utility type.</a:t>
            </a:r>
          </a:p>
          <a:p>
            <a:r>
              <a:rPr lang="en-US" sz="1600" dirty="0"/>
              <a:t>Then I created prior-year references to calculate year-over-year change, which helps reveal growth, decline, or anomalies.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8B327F-175C-41DF-FADE-0FFF3FDED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363" y="2016155"/>
            <a:ext cx="4580374" cy="28169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149CDF-5DAC-4860-A285-9492CF209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06" y="729175"/>
            <a:ext cx="8324514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973" y="905012"/>
            <a:ext cx="7705763" cy="71100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dirty="0"/>
              <a:t>4. Power BI Dashboard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120" y="1791854"/>
            <a:ext cx="7705762" cy="153219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/>
              <a:t>KPIs: Total Usage.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00" b="1" dirty="0"/>
              <a:t>Total Usage </a:t>
            </a:r>
            <a:r>
              <a:rPr lang="en-US" sz="1000" dirty="0"/>
              <a:t>Represents the total annual utility consumption (</a:t>
            </a:r>
            <a:r>
              <a:rPr lang="en-US" sz="1000" i="1" dirty="0"/>
              <a:t>Energy in </a:t>
            </a:r>
            <a:r>
              <a:rPr lang="en-US" sz="1000" i="1" dirty="0" err="1"/>
              <a:t>kBtu</a:t>
            </a:r>
            <a:r>
              <a:rPr lang="en-US" sz="1000" i="1" dirty="0"/>
              <a:t>, Water in </a:t>
            </a:r>
            <a:r>
              <a:rPr lang="en-US" sz="1000" i="1" dirty="0" err="1"/>
              <a:t>kGal</a:t>
            </a:r>
            <a:r>
              <a:rPr lang="en-US" sz="1000" i="1" dirty="0"/>
              <a:t>, and Waste in Tons</a:t>
            </a:r>
            <a:r>
              <a:rPr lang="en-US" sz="1000" dirty="0"/>
              <a:t>) across the portfolio.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00" b="1" dirty="0"/>
              <a:t>Visual 1: Year‑over‑Year Usage Trend Chart.</a:t>
            </a:r>
            <a:br>
              <a:rPr lang="en-US" sz="1000" b="1" dirty="0"/>
            </a:br>
            <a:r>
              <a:rPr lang="en-US" sz="1000" dirty="0"/>
              <a:t>This line chart shows how utility usage has changed over time (2018–2025).</a:t>
            </a:r>
            <a:br>
              <a:rPr lang="en-US" sz="1000" dirty="0"/>
            </a:br>
            <a:r>
              <a:rPr lang="en-US" sz="1000" dirty="0"/>
              <a:t>Key points this visual supports: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Identifies overall portfolio consumption patterns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Shows increases or decreases in usage year by year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Helps spot unusual trends or anomalies</a:t>
            </a:r>
          </a:p>
          <a:p>
            <a:pPr lvl="1">
              <a:lnSpc>
                <a:spcPct val="90000"/>
              </a:lnSpc>
            </a:pPr>
            <a:r>
              <a:rPr lang="en-US" sz="1000" dirty="0"/>
              <a:t>Allows users to compare usage trends across Energy, Water, and Waste</a:t>
            </a:r>
          </a:p>
          <a:p>
            <a:pPr>
              <a:lnSpc>
                <a:spcPct val="90000"/>
              </a:lnSpc>
            </a:pPr>
            <a:endParaRPr lang="en-US" sz="1000" dirty="0"/>
          </a:p>
        </p:txBody>
      </p:sp>
      <p:pic>
        <p:nvPicPr>
          <p:cNvPr id="9" name="Picture 8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752120A7-993B-22DD-4CB7-B2CE49018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36" y="3324046"/>
            <a:ext cx="6383554" cy="25917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068B58-6F94-4AFF-A8A7-18573884D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5B028C-7535-45E5-9D2C-32C50D0E0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06" y="729175"/>
            <a:ext cx="8324514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973" y="900622"/>
            <a:ext cx="6622509" cy="640631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200" dirty="0"/>
              <a:t>Power BI Dashboard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666" y="1498773"/>
            <a:ext cx="7858237" cy="22623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Visual 2: Usage by Region.</a:t>
            </a:r>
          </a:p>
          <a:p>
            <a:pPr marL="0" indent="0">
              <a:buNone/>
            </a:pPr>
            <a:r>
              <a:rPr lang="en-US" sz="1200" dirty="0"/>
              <a:t>A horizontal bar chart displaying utility usage by region (e.g., Central, South, East, etc.).</a:t>
            </a:r>
          </a:p>
          <a:p>
            <a:pPr marL="571500" lvl="1" indent="-17145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Regions with the highest resource consumption</a:t>
            </a:r>
          </a:p>
          <a:p>
            <a:pPr marL="571500" lvl="1" indent="-17145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 patterns in utility usage</a:t>
            </a:r>
          </a:p>
          <a:p>
            <a:pPr marL="571500" lvl="1" indent="-17145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Areas where operational improvements or sustainability efforts may be needed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Visual 3: Usage by Building Type.</a:t>
            </a:r>
          </a:p>
          <a:p>
            <a:pPr marL="0" indent="0">
              <a:buNone/>
            </a:pPr>
            <a:r>
              <a:rPr lang="en-US" sz="1200" dirty="0"/>
              <a:t>A bar chart comparing total usage across different building categories (e.g., Multi-Family, Office, Retail, Student Housing).</a:t>
            </a:r>
          </a:p>
          <a:p>
            <a:pPr marL="571500" lvl="1" indent="-171450"/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building types consume the most utilities</a:t>
            </a:r>
          </a:p>
          <a:p>
            <a:pPr marL="571500" lvl="1" indent="-171450"/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concentration across the portfolio</a:t>
            </a:r>
          </a:p>
          <a:p>
            <a:pPr marL="571500" lvl="1" indent="-171450"/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 areas for efficiency or cost-management</a:t>
            </a:r>
            <a:endParaRPr lang="en-US" sz="1600" b="1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17" name="Picture 16" descr="A close-up of a graph&#10;&#10;AI-generated content may be incorrect.">
            <a:extLst>
              <a:ext uri="{FF2B5EF4-FFF2-40B4-BE49-F238E27FC236}">
                <a16:creationId xmlns:a16="http://schemas.microsoft.com/office/drawing/2014/main" id="{919900A2-94BA-BF6B-26AA-06C23564B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66" y="3613421"/>
            <a:ext cx="7745009" cy="22792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US"/>
              <a:t>5. Insights Identified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E1A4763C-8EC5-EDD1-62E4-E03FAEFEFA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8924220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</a:t>
            </a:r>
            <a:r>
              <a:rPr dirty="0"/>
              <a:t>. Final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9C64CD-DFBB-8C22-497E-41B9B90B0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600199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E700A8-AE52-4017-8C7E-C20956F74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516C1EB-8D62-4BF0-92B5-02E6AE43B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A737E5B8-8F31-4942-B159-B213C4D6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8F530DA-C7D1-4968-8F8A-8700C2BB2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06" y="729175"/>
            <a:ext cx="8324514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7216" y="2474157"/>
            <a:ext cx="2846880" cy="8498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dirty="0"/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7234</TotalTime>
  <Words>435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Utility Usage Year‑Over‑Year Dashboard</vt:lpstr>
      <vt:lpstr>1. Project Overview</vt:lpstr>
      <vt:lpstr>2. Dataset Summary</vt:lpstr>
      <vt:lpstr>3. Data Preparation Workflow</vt:lpstr>
      <vt:lpstr>4. Power BI Dashboard Design</vt:lpstr>
      <vt:lpstr>Power BI Dashboard Design</vt:lpstr>
      <vt:lpstr>5. Insights Identified</vt:lpstr>
      <vt:lpstr>8. Final Dashboard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Anvitha Kommineni</dc:creator>
  <cp:keywords/>
  <dc:description>generated using python-pptx</dc:description>
  <cp:lastModifiedBy>Kommineni, Anvitha</cp:lastModifiedBy>
  <cp:revision>3</cp:revision>
  <dcterms:created xsi:type="dcterms:W3CDTF">2013-01-27T09:14:16Z</dcterms:created>
  <dcterms:modified xsi:type="dcterms:W3CDTF">2026-02-13T18:52:42Z</dcterms:modified>
  <cp:category/>
</cp:coreProperties>
</file>